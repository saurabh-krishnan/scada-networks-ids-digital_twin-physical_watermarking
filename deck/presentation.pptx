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Network only</c:v>
                </c:pt>
              </c:strCache>
            </c:strRef>
          </c:tx>
          <c:spPr>
            <a:solidFill>
              <a:srgbClr val="FF5A5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4F6F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False data injection</c:v>
                </c:pt>
                <c:pt idx="1">
                  <c:v>Watermark interference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stack + watermark</c:v>
                </c:pt>
              </c:strCache>
            </c:strRef>
          </c:tx>
          <c:spPr>
            <a:solidFill>
              <a:srgbClr val="35C76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4F6F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False data injection</c:v>
                </c:pt>
                <c:pt idx="1">
                  <c:v>Watermark interference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0.94</c:v>
                </c:pt>
                <c:pt idx="1">
                  <c:v>0.96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242B3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9AA3B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rgbClr val="242B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242B3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9AA3B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9AA3B4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c2a51b1-b927-447b-86f5-ea6cbf6784e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We built a live, simulated SCADA plant and used it to show that a network-only defender is blind to attacks that lie at the sensor -- and that a digital twin, process physics and an active watermark close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motivation. A field-device compromise or a sensor-to-PLC MITM presents a plausible-but-false reading; nothing on the wire is anomalous, so a packet-only IDS misses it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Stuxnet (2010), the Ukrainian grid attacks (2015/16) and TRITON (2017) all reached the physical/safety layer. Our testbed is a reproducible place to study and detect such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platform: a simulated liquid-metal boiler plus four auxiliary subsystems, with 37 sensors, 17 actuators, five controllers and a 72-node network, running live at 10 Hz and covered by 56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is a Purdue-zoned graph with an industrial firewall and a cellular link to a remote RTU. Modbus TCP uses real ADU bytes; OPC UA and MQTT are honestly labelled as application-level emulation. A SPAN mirror feeds the IDS exactly what a real tap would.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system -- architecture, the control loop, and the three add-ons that make it a security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a strictly layered stack advanced at 10 Hz, observed by the twin, the four-layer IDS, the correlation engine and the response engine. A key invariant, checked by tests, is that the attacker can only reach the network and field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runs a fixed per-tick sequence at 10 Hz. The attacker manipulates before the physics step; the safety system and the plant read the real state; the IDS only ever sees the SPAN mirror. Ground-truth labels never reach the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Add-on 1: the independent twin. The gate is the crucial idea -- continuously correcting toward measurements would let a slow lie pass; gating keeps the twin anchored to physics, so the lie becomes a large residual (z = -24.9 in the live demo).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Add-on 2: four independent detectors feed one correlation engine, which deduplicates evidence into a single classified incident and fuses confidence probabilistically -- so a coordinated attack no single layer sees in full still surfaces as one high-confidence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Add-on 3: active defence. We inject a secret, bounded signal and check the process actually responds to it. A replay or smoothing attack that erases the signature is flagged. Baseline correlation is ~0.80 (flow) and ~0.95 (pressure).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the evidence -- the attack laboratory, a live demonstration, and the quantitative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reproducible attacks. The key property: during telemetry falsification the real plant keeps running on real actuator action while only the observed values are faked -- and ground-truth labels never reach the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shot. A -18C bias is injected on the hot-leg sensor. The real temperature rises while the operator sees the fake value; the independent twin flags it at z = -24.9 and the engine raises a critical incident at 96%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to containment. The process and twin layers fire -- not the network -- and the correlation engine raises one critical incident; in automatic mode the response engine marks the sensor suspicious, fails over to a secure channel and preserves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table. Read left to right: adding layers recovers the attacks the network cannot see, while command-path attacks (D, E, F) are caught by the network alone. The watermark specifically rescues scenario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result. Each layer covers a blind spot of the others, and only the full stack fused by correlation covers all four attack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 contributions across the four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 thesis in one line: defence must live in the physics, not just the packets. Headline numbers and references.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CYBER-PHYSICAL SECURITY</a:t>
            </a:r>
            <a:r>
              <a:rPr lang="en-US" sz="1200" kern="0" spc="300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·   RESEARCH SHOWCASE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965960"/>
            <a:ext cx="106070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lie the</a:t>
            </a:r>
            <a:endParaRPr lang="en-US" sz="5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can't see.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digital-twin and physical-watermarking testbed for multi-layer intrusion detection in SCADA systems.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S. Saurabh Krishnan</a:t>
            </a:r>
            <a:r>
              <a:rPr lang="en-US" sz="13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·   Hemant Bhupesh   ·   Sanjai S   ·   Nitesh V. 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447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Amrita Vishwa Vidyapeetham · Coimbatore, India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BLIND SPOT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64922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compromised sensor sends a</a:t>
            </a:r>
            <a:endParaRPr lang="en-US" sz="3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perfect packet with a false value.</a:t>
            </a:r>
            <a:endParaRPr lang="en-US" sz="3000" dirty="0"/>
          </a:p>
        </p:txBody>
      </p:sp>
      <p:sp>
        <p:nvSpPr>
          <p:cNvPr id="7" name="anim3"/>
          <p:cNvSpPr txBox="1"/>
          <p:nvPr/>
        </p:nvSpPr>
        <p:spPr>
          <a:xfrm>
            <a:off x="548640" y="347472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network layer sees nothing wrong — the frame is well-formed and on time. </a:t>
            </a:r>
            <a:r>
              <a:rPr lang="en-US" sz="15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Meanwhile the real process diverges.</a:t>
            </a:r>
            <a:endParaRPr lang="en-US" sz="1500" dirty="0"/>
          </a:p>
        </p:txBody>
      </p:sp>
      <p:sp>
        <p:nvSpPr>
          <p:cNvPr id="8" name="anim4"/>
          <p:cNvSpPr txBox="1"/>
          <p:nvPr/>
        </p:nvSpPr>
        <p:spPr>
          <a:xfrm>
            <a:off x="548640" y="484632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Detecting this needs reasoning about the physics of the process, not just its packets.</a:t>
            </a:r>
            <a:endParaRPr lang="en-US" sz="1400" dirty="0"/>
          </a:p>
        </p:txBody>
      </p:sp>
      <p:sp>
        <p:nvSpPr>
          <p:cNvPr id="9" name="deco"/>
          <p:cNvSpPr/>
          <p:nvPr/>
        </p:nvSpPr>
        <p:spPr>
          <a:xfrm>
            <a:off x="7635240" y="141732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anim2"/>
          <p:cNvSpPr/>
          <p:nvPr/>
        </p:nvSpPr>
        <p:spPr>
          <a:xfrm>
            <a:off x="8001000" y="1920240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171B26"/>
          </a:solidFill>
          <a:ln w="16510">
            <a:solidFill>
              <a:srgbClr val="54B2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1920240"/>
            <a:ext cx="1554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</a:t>
            </a:r>
            <a:endParaRPr lang="en-US" sz="1200" dirty="0"/>
          </a:p>
        </p:txBody>
      </p:sp>
      <p:sp>
        <p:nvSpPr>
          <p:cNvPr id="12" name="anim2"/>
          <p:cNvSpPr/>
          <p:nvPr/>
        </p:nvSpPr>
        <p:spPr>
          <a:xfrm>
            <a:off x="9692640" y="1920240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171B26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1920240"/>
            <a:ext cx="1554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PLC</a:t>
            </a:r>
            <a:endParaRPr lang="en-US" sz="1200" dirty="0"/>
          </a:p>
        </p:txBody>
      </p:sp>
      <p:sp>
        <p:nvSpPr>
          <p:cNvPr id="14" name="anim2"/>
          <p:cNvSpPr/>
          <p:nvPr/>
        </p:nvSpPr>
        <p:spPr>
          <a:xfrm>
            <a:off x="8869680" y="3200400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171B26"/>
          </a:solidFill>
          <a:ln w="16510">
            <a:solidFill>
              <a:srgbClr val="35C7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0" y="3200400"/>
            <a:ext cx="1554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SCADA · HMI</a:t>
            </a:r>
            <a:endParaRPr lang="en-US" sz="1200" dirty="0"/>
          </a:p>
        </p:txBody>
      </p:sp>
      <p:sp>
        <p:nvSpPr>
          <p:cNvPr id="16" name="anim2"/>
          <p:cNvSpPr/>
          <p:nvPr/>
        </p:nvSpPr>
        <p:spPr>
          <a:xfrm>
            <a:off x="9555480" y="2203704"/>
            <a:ext cx="137160" cy="0"/>
          </a:xfrm>
          <a:prstGeom prst="line">
            <a:avLst/>
          </a:prstGeom>
          <a:noFill/>
          <a:ln w="33020">
            <a:solidFill>
              <a:srgbClr val="FF5A52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9235440" y="15727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A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falsified value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646920" y="2487168"/>
            <a:ext cx="0" cy="713232"/>
          </a:xfrm>
          <a:prstGeom prst="line">
            <a:avLst/>
          </a:prstGeom>
          <a:noFill/>
          <a:ln w="25400">
            <a:solidFill>
              <a:srgbClr val="59627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001000" y="406908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Operator sees a benign number.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3891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plant does not.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HAS ALREADY HAPPENED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Fifteen years of attacks that reached the physical layer.</a:t>
            </a:r>
            <a:endParaRPr lang="en-US" sz="2600" dirty="0"/>
          </a:p>
        </p:txBody>
      </p:sp>
      <p:sp>
        <p:nvSpPr>
          <p:cNvPr id="7" name="deco"/>
          <p:cNvSpPr/>
          <p:nvPr/>
        </p:nvSpPr>
        <p:spPr>
          <a:xfrm>
            <a:off x="1097280" y="3840480"/>
            <a:ext cx="9966960" cy="0"/>
          </a:xfrm>
          <a:prstGeom prst="line">
            <a:avLst/>
          </a:prstGeom>
          <a:noFill/>
          <a:ln w="25400">
            <a:solidFill>
              <a:srgbClr val="242B3A"/>
            </a:solidFill>
            <a:prstDash val="solid"/>
          </a:ln>
        </p:spPr>
      </p:sp>
      <p:sp>
        <p:nvSpPr>
          <p:cNvPr id="8" name="anim1"/>
          <p:cNvSpPr/>
          <p:nvPr/>
        </p:nvSpPr>
        <p:spPr>
          <a:xfrm>
            <a:off x="1655064" y="3758184"/>
            <a:ext cx="164592" cy="164592"/>
          </a:xfrm>
          <a:prstGeom prst="ellipse">
            <a:avLst/>
          </a:prstGeom>
          <a:solidFill>
            <a:srgbClr val="F0592A"/>
          </a:solidFill>
          <a:ln w="25400">
            <a:solidFill>
              <a:srgbClr val="0A0C10"/>
            </a:solidFill>
            <a:prstDash val="solid"/>
          </a:ln>
        </p:spPr>
      </p:sp>
      <p:sp>
        <p:nvSpPr>
          <p:cNvPr id="9" name="anim1"/>
          <p:cNvSpPr/>
          <p:nvPr/>
        </p:nvSpPr>
        <p:spPr>
          <a:xfrm>
            <a:off x="1737360" y="3429000"/>
            <a:ext cx="0" cy="411480"/>
          </a:xfrm>
          <a:prstGeom prst="line">
            <a:avLst/>
          </a:prstGeom>
          <a:noFill/>
          <a:ln w="12700">
            <a:solidFill>
              <a:srgbClr val="242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23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Stuxnet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449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Centrifuge sabotage via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falsified PLC logic &amp; readings</a:t>
            </a:r>
            <a:endParaRPr lang="en-US" sz="950" dirty="0"/>
          </a:p>
        </p:txBody>
      </p:sp>
      <p:sp>
        <p:nvSpPr>
          <p:cNvPr id="13" name="anim2"/>
          <p:cNvSpPr/>
          <p:nvPr/>
        </p:nvSpPr>
        <p:spPr>
          <a:xfrm>
            <a:off x="4581144" y="3758184"/>
            <a:ext cx="164592" cy="164592"/>
          </a:xfrm>
          <a:prstGeom prst="ellipse">
            <a:avLst/>
          </a:prstGeom>
          <a:solidFill>
            <a:srgbClr val="54B2C9"/>
          </a:solidFill>
          <a:ln w="25400">
            <a:solidFill>
              <a:srgbClr val="0A0C10"/>
            </a:solidFill>
            <a:prstDash val="solid"/>
          </a:ln>
        </p:spPr>
      </p:sp>
      <p:sp>
        <p:nvSpPr>
          <p:cNvPr id="14" name="anim2"/>
          <p:cNvSpPr/>
          <p:nvPr/>
        </p:nvSpPr>
        <p:spPr>
          <a:xfrm>
            <a:off x="4663440" y="3840480"/>
            <a:ext cx="0" cy="274320"/>
          </a:xfrm>
          <a:prstGeom prst="line">
            <a:avLst/>
          </a:prstGeom>
          <a:noFill/>
          <a:ln w="12700">
            <a:solidFill>
              <a:srgbClr val="242B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4160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4B2C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2015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434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Ukraine grid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78231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Breakers opened remotely;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operators locked out</a:t>
            </a:r>
            <a:endParaRPr lang="en-US" sz="950" dirty="0"/>
          </a:p>
        </p:txBody>
      </p:sp>
      <p:sp>
        <p:nvSpPr>
          <p:cNvPr id="18" name="anim3"/>
          <p:cNvSpPr/>
          <p:nvPr/>
        </p:nvSpPr>
        <p:spPr>
          <a:xfrm>
            <a:off x="7507224" y="3758184"/>
            <a:ext cx="164592" cy="164592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A0C10"/>
            </a:solidFill>
            <a:prstDash val="solid"/>
          </a:ln>
        </p:spPr>
      </p:sp>
      <p:sp>
        <p:nvSpPr>
          <p:cNvPr id="19" name="anim3"/>
          <p:cNvSpPr/>
          <p:nvPr/>
        </p:nvSpPr>
        <p:spPr>
          <a:xfrm>
            <a:off x="7589520" y="3429000"/>
            <a:ext cx="0" cy="411480"/>
          </a:xfrm>
          <a:prstGeom prst="line">
            <a:avLst/>
          </a:prstGeom>
          <a:noFill/>
          <a:ln w="12700">
            <a:solidFill>
              <a:srgbClr val="242B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423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2017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TRITON / TRISIS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04495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Malware targeting the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safety-instrumented system</a:t>
            </a:r>
            <a:endParaRPr lang="en-US" sz="950" dirty="0"/>
          </a:p>
        </p:txBody>
      </p:sp>
      <p:sp>
        <p:nvSpPr>
          <p:cNvPr id="23" name="anim4"/>
          <p:cNvSpPr/>
          <p:nvPr/>
        </p:nvSpPr>
        <p:spPr>
          <a:xfrm>
            <a:off x="9976104" y="3758184"/>
            <a:ext cx="164592" cy="164592"/>
          </a:xfrm>
          <a:prstGeom prst="ellipse">
            <a:avLst/>
          </a:prstGeom>
          <a:solidFill>
            <a:srgbClr val="35C76A"/>
          </a:solidFill>
          <a:ln w="25400">
            <a:solidFill>
              <a:srgbClr val="0A0C10"/>
            </a:solidFill>
            <a:prstDash val="solid"/>
          </a:ln>
        </p:spPr>
      </p:sp>
      <p:sp>
        <p:nvSpPr>
          <p:cNvPr id="24" name="anim4"/>
          <p:cNvSpPr/>
          <p:nvPr/>
        </p:nvSpPr>
        <p:spPr>
          <a:xfrm>
            <a:off x="10058400" y="3840480"/>
            <a:ext cx="0" cy="274320"/>
          </a:xfrm>
          <a:prstGeom prst="line">
            <a:avLst/>
          </a:prstGeom>
          <a:noFill/>
          <a:ln w="12700">
            <a:solidFill>
              <a:srgbClr val="242B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0" y="4160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6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434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This testbed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78231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place to study and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 these, reproducibly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6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Dates and incidents are historical fact; the testbed is a simulation.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WE BUILT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TESTBED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liquid-metal boiler plant, alive at 10 Hz.</a:t>
            </a:r>
            <a:endParaRPr lang="en-US" sz="2600" dirty="0"/>
          </a:p>
        </p:txBody>
      </p:sp>
      <p:sp>
        <p:nvSpPr>
          <p:cNvPr id="7" name="deco"/>
          <p:cNvSpPr/>
          <p:nvPr/>
        </p:nvSpPr>
        <p:spPr>
          <a:xfrm>
            <a:off x="493776" y="2276856"/>
            <a:ext cx="7150608" cy="4114228"/>
          </a:xfrm>
          <a:prstGeom prst="roundRect">
            <a:avLst>
              <a:gd name="adj" fmla="val 1334"/>
            </a:avLst>
          </a:prstGeom>
          <a:solidFill>
            <a:srgbClr val="171B26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8" name="anim2" descr="assets/plant_overvie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7040880" cy="40045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45949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Operator HMI — animated P&amp;ID, live telemetry, independent safety panel.</a:t>
            </a:r>
            <a:endParaRPr lang="en-US" sz="900" dirty="0"/>
          </a:p>
        </p:txBody>
      </p:sp>
      <p:sp>
        <p:nvSpPr>
          <p:cNvPr id="10" name="anim3"/>
          <p:cNvSpPr txBox="1"/>
          <p:nvPr/>
        </p:nvSpPr>
        <p:spPr>
          <a:xfrm>
            <a:off x="7955280" y="23774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4B2C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94436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sensors</a:t>
            </a:r>
            <a:endParaRPr lang="en-US" sz="1100" dirty="0"/>
          </a:p>
        </p:txBody>
      </p:sp>
      <p:sp>
        <p:nvSpPr>
          <p:cNvPr id="12" name="anim4"/>
          <p:cNvSpPr txBox="1"/>
          <p:nvPr/>
        </p:nvSpPr>
        <p:spPr>
          <a:xfrm>
            <a:off x="9829800" y="23774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98B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829800" y="294436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actuators</a:t>
            </a:r>
            <a:endParaRPr lang="en-US" sz="1100" dirty="0"/>
          </a:p>
        </p:txBody>
      </p:sp>
      <p:sp>
        <p:nvSpPr>
          <p:cNvPr id="14" name="anim5"/>
          <p:cNvSpPr txBox="1"/>
          <p:nvPr/>
        </p:nvSpPr>
        <p:spPr>
          <a:xfrm>
            <a:off x="795528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788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PLCs / RTU</a:t>
            </a:r>
            <a:endParaRPr lang="en-US" sz="1100" dirty="0"/>
          </a:p>
        </p:txBody>
      </p:sp>
      <p:sp>
        <p:nvSpPr>
          <p:cNvPr id="16" name="anim6"/>
          <p:cNvSpPr txBox="1"/>
          <p:nvPr/>
        </p:nvSpPr>
        <p:spPr>
          <a:xfrm>
            <a:off x="982980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C7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829800" y="41788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nodes</a:t>
            </a:r>
            <a:endParaRPr lang="en-US" sz="1100" dirty="0"/>
          </a:p>
        </p:txBody>
      </p:sp>
      <p:sp>
        <p:nvSpPr>
          <p:cNvPr id="18" name="anim7"/>
          <p:cNvSpPr txBox="1"/>
          <p:nvPr/>
        </p:nvSpPr>
        <p:spPr>
          <a:xfrm>
            <a:off x="7955280" y="4846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Hz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54132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engine</a:t>
            </a:r>
            <a:endParaRPr lang="en-US" sz="1100" dirty="0"/>
          </a:p>
        </p:txBody>
      </p:sp>
      <p:sp>
        <p:nvSpPr>
          <p:cNvPr id="20" name="anim8"/>
          <p:cNvSpPr txBox="1"/>
          <p:nvPr/>
        </p:nvSpPr>
        <p:spPr>
          <a:xfrm>
            <a:off x="9829800" y="4846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56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9829800" y="54132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tests passing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WE BUILT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SIMULATED NETWORK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0972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Purdue-zoned, protocol-aware, tapped.</a:t>
            </a:r>
            <a:endParaRPr lang="en-US" sz="2600" dirty="0"/>
          </a:p>
        </p:txBody>
      </p:sp>
      <p:sp>
        <p:nvSpPr>
          <p:cNvPr id="7" name="anim3"/>
          <p:cNvSpPr txBox="1"/>
          <p:nvPr/>
        </p:nvSpPr>
        <p:spPr>
          <a:xfrm>
            <a:off x="548640" y="2697480"/>
            <a:ext cx="35661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Modbus TCP</a:t>
            </a:r>
            <a:r>
              <a:rPr lang="en-US" sz="14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as spec-conformant ADU bytes; </a:t>
            </a:r>
            <a:r>
              <a:rPr lang="en-US" sz="14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OPC UA</a:t>
            </a:r>
            <a:r>
              <a:rPr lang="en-US" sz="14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</a:t>
            </a:r>
            <a:r>
              <a:rPr lang="en-US" sz="14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MQTT</a:t>
            </a:r>
            <a:r>
              <a:rPr lang="en-US" sz="14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emulated. A discrete-event bus adds latency, loss and MITM, and mirrors supervisory traffic to the IDS through a SPAN port.</a:t>
            </a:r>
            <a:endParaRPr lang="en-US" sz="1400" dirty="0"/>
          </a:p>
        </p:txBody>
      </p:sp>
      <p:sp>
        <p:nvSpPr>
          <p:cNvPr id="8" name="deco"/>
          <p:cNvSpPr/>
          <p:nvPr/>
        </p:nvSpPr>
        <p:spPr>
          <a:xfrm>
            <a:off x="4425696" y="1865376"/>
            <a:ext cx="7242048" cy="4166235"/>
          </a:xfrm>
          <a:prstGeom prst="roundRect">
            <a:avLst>
              <a:gd name="adj" fmla="val 1317"/>
            </a:avLst>
          </a:prstGeom>
          <a:solidFill>
            <a:srgbClr val="171B26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9" name="anim2" descr="assets/network_topology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920240"/>
            <a:ext cx="7132320" cy="40565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80560" y="6086475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SPAN-mirrored Modbus / MQTT traffic feeding the four-layer IDS.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C22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566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plant, the twin, the detectors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the watermark fit together.</a:t>
            </a:r>
            <a:endParaRPr lang="en-US" sz="28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layers, watched by four observers.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331720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5760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Supervisory — SCADA · HMI · historian · auth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916936"/>
            <a:ext cx="0" cy="128016"/>
          </a:xfrm>
          <a:prstGeom prst="line">
            <a:avLst/>
          </a:prstGeom>
          <a:noFill/>
          <a:ln w="17780">
            <a:solidFill>
              <a:srgbClr val="59627A"/>
            </a:solidFill>
            <a:prstDash val="solid"/>
            <a:headEnd type="triangle"/>
            <a:tailEnd type="triangle"/>
          </a:ln>
        </p:spPr>
      </p:sp>
      <p:sp>
        <p:nvSpPr>
          <p:cNvPr id="10" name="anim2"/>
          <p:cNvSpPr/>
          <p:nvPr/>
        </p:nvSpPr>
        <p:spPr>
          <a:xfrm>
            <a:off x="548640" y="3044952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44952"/>
            <a:ext cx="5760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bus — routing · loss · SPAN mirror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3630168"/>
            <a:ext cx="0" cy="128016"/>
          </a:xfrm>
          <a:prstGeom prst="line">
            <a:avLst/>
          </a:prstGeom>
          <a:noFill/>
          <a:ln w="17780">
            <a:solidFill>
              <a:srgbClr val="59627A"/>
            </a:solidFill>
            <a:prstDash val="solid"/>
            <a:headEnd type="triangle"/>
            <a:tailEnd type="triangle"/>
          </a:ln>
        </p:spPr>
      </p:sp>
      <p:sp>
        <p:nvSpPr>
          <p:cNvPr id="13" name="anim3"/>
          <p:cNvSpPr/>
          <p:nvPr/>
        </p:nvSpPr>
        <p:spPr>
          <a:xfrm>
            <a:off x="548640" y="3758184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5760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PLCs / RTU — PI(D) control · Modbus / MQTT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1880" y="4343400"/>
            <a:ext cx="0" cy="128016"/>
          </a:xfrm>
          <a:prstGeom prst="line">
            <a:avLst/>
          </a:prstGeom>
          <a:noFill/>
          <a:ln w="17780">
            <a:solidFill>
              <a:srgbClr val="59627A"/>
            </a:solidFill>
            <a:prstDash val="solid"/>
            <a:headEnd type="triangle"/>
            <a:tailEnd type="triangle"/>
          </a:ln>
        </p:spPr>
      </p:sp>
      <p:sp>
        <p:nvSpPr>
          <p:cNvPr id="16" name="anim4"/>
          <p:cNvSpPr/>
          <p:nvPr/>
        </p:nvSpPr>
        <p:spPr>
          <a:xfrm>
            <a:off x="548640" y="4471416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71416"/>
            <a:ext cx="5760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Field devices — sensors · actuators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5056632"/>
            <a:ext cx="0" cy="128016"/>
          </a:xfrm>
          <a:prstGeom prst="line">
            <a:avLst/>
          </a:prstGeom>
          <a:noFill/>
          <a:ln w="17780">
            <a:solidFill>
              <a:srgbClr val="59627A"/>
            </a:solidFill>
            <a:prstDash val="solid"/>
            <a:headEnd type="triangle"/>
            <a:tailEnd type="triangle"/>
          </a:ln>
        </p:spPr>
      </p:sp>
      <p:sp>
        <p:nvSpPr>
          <p:cNvPr id="19" name="anim5"/>
          <p:cNvSpPr/>
          <p:nvPr/>
        </p:nvSpPr>
        <p:spPr>
          <a:xfrm>
            <a:off x="548640" y="5184648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0231A"/>
          </a:solidFill>
          <a:ln w="12700">
            <a:solidFill>
              <a:srgbClr val="35C7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84648"/>
            <a:ext cx="5760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Physical plant — ground truth</a:t>
            </a:r>
            <a:endParaRPr lang="en-US" sz="1250" dirty="0"/>
          </a:p>
        </p:txBody>
      </p:sp>
      <p:sp>
        <p:nvSpPr>
          <p:cNvPr id="21" name="anim6"/>
          <p:cNvSpPr/>
          <p:nvPr/>
        </p:nvSpPr>
        <p:spPr>
          <a:xfrm>
            <a:off x="7132320" y="2194560"/>
            <a:ext cx="4480560" cy="3611880"/>
          </a:xfrm>
          <a:prstGeom prst="roundRect">
            <a:avLst>
              <a:gd name="adj" fmla="val 2278"/>
            </a:avLst>
          </a:prstGeom>
          <a:solidFill>
            <a:srgbClr val="1A1410"/>
          </a:solidFill>
          <a:ln w="15240">
            <a:solidFill>
              <a:srgbClr val="F0592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60920" y="2377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OBSERVERS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2843784"/>
            <a:ext cx="182880" cy="182880"/>
          </a:xfrm>
          <a:prstGeom prst="ellipse">
            <a:avLst/>
          </a:prstGeom>
          <a:solidFill>
            <a:srgbClr val="35C76A"/>
          </a:solidFill>
        </p:spPr>
      </p:sp>
      <p:sp>
        <p:nvSpPr>
          <p:cNvPr id="24" name="Text 22"/>
          <p:cNvSpPr txBox="1"/>
          <p:nvPr/>
        </p:nvSpPr>
        <p:spPr>
          <a:xfrm>
            <a:off x="7680960" y="278892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08152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 physics + residuals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3575304"/>
            <a:ext cx="182880" cy="182880"/>
          </a:xfrm>
          <a:prstGeom prst="ellipse">
            <a:avLst/>
          </a:prstGeom>
          <a:solidFill>
            <a:srgbClr val="54B2C9"/>
          </a:solidFill>
        </p:spPr>
      </p:sp>
      <p:sp>
        <p:nvSpPr>
          <p:cNvPr id="27" name="Text 25"/>
          <p:cNvSpPr txBox="1"/>
          <p:nvPr/>
        </p:nvSpPr>
        <p:spPr>
          <a:xfrm>
            <a:off x="7680960" y="352044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Four-layer IDS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8130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· process · twin · watermark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4306824"/>
            <a:ext cx="182880" cy="182880"/>
          </a:xfrm>
          <a:prstGeom prst="ellipse">
            <a:avLst/>
          </a:prstGeom>
          <a:solidFill>
            <a:srgbClr val="A98BFF"/>
          </a:solidFill>
        </p:spPr>
      </p:sp>
      <p:sp>
        <p:nvSpPr>
          <p:cNvPr id="30" name="Text 28"/>
          <p:cNvSpPr txBox="1"/>
          <p:nvPr/>
        </p:nvSpPr>
        <p:spPr>
          <a:xfrm>
            <a:off x="7680960" y="425196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45445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dedup · classify · fuse confidence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5038344"/>
            <a:ext cx="182880" cy="1828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33" name="Text 31"/>
          <p:cNvSpPr txBox="1"/>
          <p:nvPr/>
        </p:nvSpPr>
        <p:spPr>
          <a:xfrm>
            <a:off x="7680960" y="498348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2760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 / approve / automatic</a:t>
            </a:r>
            <a:endParaRPr lang="en-US" sz="1000" dirty="0"/>
          </a:p>
        </p:txBody>
      </p:sp>
      <p:sp>
        <p:nvSpPr>
          <p:cNvPr id="35" name="anim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Invariant: the attacker touches only the network and field devices — never the twin, IDS, watermark or safety system.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10 HZ LOOP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tick, in a fixed order.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286000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F0592A"/>
            </a:solidFill>
            <a:prstDash val="solid"/>
          </a:ln>
        </p:spPr>
      </p:sp>
      <p:sp>
        <p:nvSpPr>
          <p:cNvPr id="8" name="anim1"/>
          <p:cNvSpPr/>
          <p:nvPr/>
        </p:nvSpPr>
        <p:spPr>
          <a:xfrm>
            <a:off x="667512" y="2359152"/>
            <a:ext cx="219456" cy="219456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9" name="Text 7"/>
          <p:cNvSpPr txBox="1"/>
          <p:nvPr/>
        </p:nvSpPr>
        <p:spPr>
          <a:xfrm>
            <a:off x="667512" y="23591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860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Attack lab applies manipulations</a:t>
            </a:r>
            <a:endParaRPr lang="en-US" sz="1150" dirty="0"/>
          </a:p>
        </p:txBody>
      </p:sp>
      <p:sp>
        <p:nvSpPr>
          <p:cNvPr id="11" name="anim2"/>
          <p:cNvSpPr/>
          <p:nvPr/>
        </p:nvSpPr>
        <p:spPr>
          <a:xfrm>
            <a:off x="548640" y="27157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35C76A"/>
            </a:solidFill>
            <a:prstDash val="solid"/>
          </a:ln>
        </p:spPr>
      </p:sp>
      <p:sp>
        <p:nvSpPr>
          <p:cNvPr id="12" name="anim2"/>
          <p:cNvSpPr/>
          <p:nvPr/>
        </p:nvSpPr>
        <p:spPr>
          <a:xfrm>
            <a:off x="667512" y="2788920"/>
            <a:ext cx="219456" cy="219456"/>
          </a:xfrm>
          <a:prstGeom prst="ellipse">
            <a:avLst/>
          </a:prstGeom>
          <a:solidFill>
            <a:srgbClr val="35C76A"/>
          </a:solidFill>
        </p:spPr>
      </p:sp>
      <p:sp>
        <p:nvSpPr>
          <p:cNvPr id="13" name="Text 11"/>
          <p:cNvSpPr txBox="1"/>
          <p:nvPr/>
        </p:nvSpPr>
        <p:spPr>
          <a:xfrm>
            <a:off x="667512" y="278892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157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Physical plant integrates (ground truth)</a:t>
            </a:r>
            <a:endParaRPr lang="en-US" sz="1150" dirty="0"/>
          </a:p>
        </p:txBody>
      </p:sp>
      <p:sp>
        <p:nvSpPr>
          <p:cNvPr id="15" name="anim3"/>
          <p:cNvSpPr/>
          <p:nvPr/>
        </p:nvSpPr>
        <p:spPr>
          <a:xfrm>
            <a:off x="548640" y="3145536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35C76A"/>
            </a:solidFill>
            <a:prstDash val="solid"/>
          </a:ln>
        </p:spPr>
      </p:sp>
      <p:sp>
        <p:nvSpPr>
          <p:cNvPr id="16" name="anim3"/>
          <p:cNvSpPr/>
          <p:nvPr/>
        </p:nvSpPr>
        <p:spPr>
          <a:xfrm>
            <a:off x="667512" y="3218688"/>
            <a:ext cx="219456" cy="219456"/>
          </a:xfrm>
          <a:prstGeom prst="ellipse">
            <a:avLst/>
          </a:prstGeom>
          <a:solidFill>
            <a:srgbClr val="35C76A"/>
          </a:solidFill>
        </p:spPr>
      </p:sp>
      <p:sp>
        <p:nvSpPr>
          <p:cNvPr id="17" name="Text 15"/>
          <p:cNvSpPr txBox="1"/>
          <p:nvPr/>
        </p:nvSpPr>
        <p:spPr>
          <a:xfrm>
            <a:off x="667512" y="32186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Hard-wired safety (SIS) may trip</a:t>
            </a:r>
            <a:endParaRPr lang="en-US" sz="1150" dirty="0"/>
          </a:p>
        </p:txBody>
      </p:sp>
      <p:sp>
        <p:nvSpPr>
          <p:cNvPr id="19" name="anim4"/>
          <p:cNvSpPr/>
          <p:nvPr/>
        </p:nvSpPr>
        <p:spPr>
          <a:xfrm>
            <a:off x="548640" y="3575304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20" name="anim4"/>
          <p:cNvSpPr/>
          <p:nvPr/>
        </p:nvSpPr>
        <p:spPr>
          <a:xfrm>
            <a:off x="667512" y="3648456"/>
            <a:ext cx="219456" cy="219456"/>
          </a:xfrm>
          <a:prstGeom prst="ellipse">
            <a:avLst/>
          </a:prstGeom>
          <a:solidFill>
            <a:srgbClr val="171B26"/>
          </a:solidFill>
        </p:spPr>
      </p:sp>
      <p:sp>
        <p:nvSpPr>
          <p:cNvPr id="21" name="Text 19"/>
          <p:cNvSpPr txBox="1"/>
          <p:nvPr/>
        </p:nvSpPr>
        <p:spPr>
          <a:xfrm>
            <a:off x="667512" y="364845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57530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Field I/O — sensors sample, PLCs scan</a:t>
            </a:r>
            <a:endParaRPr lang="en-US" sz="1150" dirty="0"/>
          </a:p>
        </p:txBody>
      </p:sp>
      <p:sp>
        <p:nvSpPr>
          <p:cNvPr id="23" name="anim5"/>
          <p:cNvSpPr/>
          <p:nvPr/>
        </p:nvSpPr>
        <p:spPr>
          <a:xfrm>
            <a:off x="548640" y="4005072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24" name="anim5"/>
          <p:cNvSpPr/>
          <p:nvPr/>
        </p:nvSpPr>
        <p:spPr>
          <a:xfrm>
            <a:off x="667512" y="4078224"/>
            <a:ext cx="219456" cy="219456"/>
          </a:xfrm>
          <a:prstGeom prst="ellipse">
            <a:avLst/>
          </a:prstGeom>
          <a:solidFill>
            <a:srgbClr val="171B26"/>
          </a:solidFill>
        </p:spPr>
      </p:sp>
      <p:sp>
        <p:nvSpPr>
          <p:cNvPr id="25" name="Text 23"/>
          <p:cNvSpPr txBox="1"/>
          <p:nvPr/>
        </p:nvSpPr>
        <p:spPr>
          <a:xfrm>
            <a:off x="667512" y="4078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00507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bus delivers (SPAN mirror)</a:t>
            </a:r>
            <a:endParaRPr lang="en-US" sz="1150" dirty="0"/>
          </a:p>
        </p:txBody>
      </p:sp>
      <p:sp>
        <p:nvSpPr>
          <p:cNvPr id="27" name="anim6"/>
          <p:cNvSpPr/>
          <p:nvPr/>
        </p:nvSpPr>
        <p:spPr>
          <a:xfrm>
            <a:off x="548640" y="4434840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28" name="anim6"/>
          <p:cNvSpPr/>
          <p:nvPr/>
        </p:nvSpPr>
        <p:spPr>
          <a:xfrm>
            <a:off x="667512" y="4507992"/>
            <a:ext cx="219456" cy="219456"/>
          </a:xfrm>
          <a:prstGeom prst="ellipse">
            <a:avLst/>
          </a:prstGeom>
          <a:solidFill>
            <a:srgbClr val="171B26"/>
          </a:solidFill>
        </p:spPr>
      </p:sp>
      <p:sp>
        <p:nvSpPr>
          <p:cNvPr id="29" name="Text 27"/>
          <p:cNvSpPr txBox="1"/>
          <p:nvPr/>
        </p:nvSpPr>
        <p:spPr>
          <a:xfrm>
            <a:off x="667512" y="450799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4348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SCADA polling · historian · twin feeds</a:t>
            </a:r>
            <a:endParaRPr lang="en-US" sz="1150" dirty="0"/>
          </a:p>
        </p:txBody>
      </p:sp>
      <p:sp>
        <p:nvSpPr>
          <p:cNvPr id="31" name="anim7"/>
          <p:cNvSpPr/>
          <p:nvPr/>
        </p:nvSpPr>
        <p:spPr>
          <a:xfrm>
            <a:off x="548640" y="486460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32" name="anim7"/>
          <p:cNvSpPr/>
          <p:nvPr/>
        </p:nvSpPr>
        <p:spPr>
          <a:xfrm>
            <a:off x="667512" y="4937760"/>
            <a:ext cx="219456" cy="219456"/>
          </a:xfrm>
          <a:prstGeom prst="ellipse">
            <a:avLst/>
          </a:prstGeom>
          <a:solidFill>
            <a:srgbClr val="171B26"/>
          </a:solidFill>
        </p:spPr>
      </p:sp>
      <p:sp>
        <p:nvSpPr>
          <p:cNvPr id="33" name="Text 31"/>
          <p:cNvSpPr txBox="1"/>
          <p:nvPr/>
        </p:nvSpPr>
        <p:spPr>
          <a:xfrm>
            <a:off x="667512" y="493776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86460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twin + watermark update</a:t>
            </a:r>
            <a:endParaRPr lang="en-US" sz="1150" dirty="0"/>
          </a:p>
        </p:txBody>
      </p:sp>
      <p:sp>
        <p:nvSpPr>
          <p:cNvPr id="35" name="anim8"/>
          <p:cNvSpPr/>
          <p:nvPr/>
        </p:nvSpPr>
        <p:spPr>
          <a:xfrm>
            <a:off x="548640" y="5294376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</p:spPr>
      </p:sp>
      <p:sp>
        <p:nvSpPr>
          <p:cNvPr id="36" name="anim8"/>
          <p:cNvSpPr/>
          <p:nvPr/>
        </p:nvSpPr>
        <p:spPr>
          <a:xfrm>
            <a:off x="667512" y="5367528"/>
            <a:ext cx="219456" cy="219456"/>
          </a:xfrm>
          <a:prstGeom prst="ellipse">
            <a:avLst/>
          </a:prstGeom>
          <a:solidFill>
            <a:srgbClr val="171B26"/>
          </a:solidFill>
        </p:spPr>
      </p:sp>
      <p:sp>
        <p:nvSpPr>
          <p:cNvPr id="37" name="Text 35"/>
          <p:cNvSpPr txBox="1"/>
          <p:nvPr/>
        </p:nvSpPr>
        <p:spPr>
          <a:xfrm>
            <a:off x="667512" y="53675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3B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29437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IDS (4 layers) → correlation</a:t>
            </a:r>
            <a:endParaRPr lang="en-US" sz="1150" dirty="0"/>
          </a:p>
        </p:txBody>
      </p:sp>
      <p:sp>
        <p:nvSpPr>
          <p:cNvPr id="39" name="anim9"/>
          <p:cNvSpPr/>
          <p:nvPr/>
        </p:nvSpPr>
        <p:spPr>
          <a:xfrm>
            <a:off x="548640" y="5724144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F0592A"/>
            </a:solidFill>
            <a:prstDash val="solid"/>
          </a:ln>
        </p:spPr>
      </p:sp>
      <p:sp>
        <p:nvSpPr>
          <p:cNvPr id="40" name="anim9"/>
          <p:cNvSpPr/>
          <p:nvPr/>
        </p:nvSpPr>
        <p:spPr>
          <a:xfrm>
            <a:off x="667512" y="5797296"/>
            <a:ext cx="219456" cy="219456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41" name="Text 39"/>
          <p:cNvSpPr txBox="1"/>
          <p:nvPr/>
        </p:nvSpPr>
        <p:spPr>
          <a:xfrm>
            <a:off x="667512" y="579729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72414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engine → snapshot</a:t>
            </a:r>
            <a:endParaRPr lang="en-US" sz="1150" dirty="0"/>
          </a:p>
        </p:txBody>
      </p:sp>
      <p:sp>
        <p:nvSpPr>
          <p:cNvPr id="43" name="anim10"/>
          <p:cNvSpPr/>
          <p:nvPr/>
        </p:nvSpPr>
        <p:spPr>
          <a:xfrm>
            <a:off x="7406640" y="2286000"/>
            <a:ext cx="4206240" cy="3520440"/>
          </a:xfrm>
          <a:prstGeom prst="roundRect">
            <a:avLst>
              <a:gd name="adj" fmla="val 2338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680960" y="2514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they never see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0" y="297180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steps read the </a:t>
            </a:r>
            <a:r>
              <a:rPr lang="en-US" sz="130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true plant state.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attacker (step 1) acts only through network and field hooks.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IDS (steps 5–8) sees only the SPAN mirror — the same bytes a real tap would capture.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7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3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1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9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7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3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 · ADD-ON 01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INDEPENDENT TWIN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6766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model that won't absorb a lie.</a:t>
            </a:r>
            <a:endParaRPr lang="en-US" sz="2800" dirty="0"/>
          </a:p>
        </p:txBody>
      </p:sp>
      <p:sp>
        <p:nvSpPr>
          <p:cNvPr id="7" name="anim3"/>
          <p:cNvSpPr txBox="1"/>
          <p:nvPr/>
        </p:nvSpPr>
        <p:spPr>
          <a:xfrm>
            <a:off x="548640" y="2743200"/>
            <a:ext cx="57607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twin runs its </a:t>
            </a:r>
            <a:r>
              <a:rPr lang="en-US" sz="145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 RK4 physics</a:t>
            </a:r>
            <a:r>
              <a:rPr lang="en-US" sz="14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with datasheet parameters — it never reads the plant's hidden state. Each tick it predicts, then fuses each measurement through a </a:t>
            </a:r>
            <a:r>
              <a:rPr lang="en-US" sz="145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</a:t>
            </a:r>
            <a:r>
              <a:rPr lang="en-US" sz="14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anim4"/>
          <p:cNvSpPr txBox="1"/>
          <p:nvPr/>
        </p:nvSpPr>
        <p:spPr>
          <a:xfrm>
            <a:off x="548640" y="4480560"/>
            <a:ext cx="57607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reading that jumps outside the gate (|z| &lt; 5) is rejected — so a stealthy lie shows up as a growing residual instead of quietly corrupting the estimate.</a:t>
            </a:r>
            <a:endParaRPr lang="en-US" sz="1300" dirty="0"/>
          </a:p>
        </p:txBody>
      </p:sp>
      <p:sp>
        <p:nvSpPr>
          <p:cNvPr id="9" name="anim2"/>
          <p:cNvSpPr/>
          <p:nvPr/>
        </p:nvSpPr>
        <p:spPr>
          <a:xfrm>
            <a:off x="6720840" y="1828800"/>
            <a:ext cx="4892040" cy="3977640"/>
          </a:xfrm>
          <a:prstGeom prst="roundRect">
            <a:avLst>
              <a:gd name="adj" fmla="val 2299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40880" y="219456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6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  =  observed  −  predicted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974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A6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  =  ( r − bias ) / σ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0" y="3383280"/>
            <a:ext cx="4251960" cy="0"/>
          </a:xfrm>
          <a:prstGeom prst="line">
            <a:avLst/>
          </a:prstGeom>
          <a:noFill/>
          <a:ln w="12700">
            <a:solidFill>
              <a:srgbClr val="242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3520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 THE LIVE FALSE-DATA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88620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5C76A"/>
                </a:solidFill>
              </a:rPr>
              <a:t>real 459.8 °C</a:t>
            </a:r>
            <a:endParaRPr lang="en-US" sz="1900" dirty="0"/>
          </a:p>
          <a:p>
            <a:pPr marL="0" indent="0">
              <a:buNone/>
            </a:pPr>
            <a:r>
              <a:rPr lang="en-US" sz="1200" dirty="0">
                <a:solidFill>
                  <a:srgbClr val="9AA3B4"/>
                </a:solidFill>
              </a:rPr>
              <a:t>vs falsified 442.3 °C shown to the operator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50749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twin residual  z = −24.9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 · ADD-ON 02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LAYERS, ONE VERDICT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Each layer covers another's blind spot.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2860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41824"/>
          </a:solidFill>
          <a:ln w="15240">
            <a:solidFill>
              <a:srgbClr val="54B2C9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43230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rogue devices · spoofing · floods · replay · unauthorised writes</a:t>
            </a:r>
            <a:endParaRPr lang="en-US" sz="1150" dirty="0"/>
          </a:p>
        </p:txBody>
      </p:sp>
      <p:sp>
        <p:nvSpPr>
          <p:cNvPr id="10" name="anim2"/>
          <p:cNvSpPr/>
          <p:nvPr/>
        </p:nvSpPr>
        <p:spPr>
          <a:xfrm>
            <a:off x="6172200" y="22860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41824"/>
          </a:solidFill>
          <a:ln w="15240">
            <a:solidFill>
              <a:srgbClr val="A98BFF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43230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98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163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limits · frozen signals · rate-of-change · setpoint deviation · energy balance</a:t>
            </a:r>
            <a:endParaRPr lang="en-US" sz="1150" dirty="0"/>
          </a:p>
        </p:txBody>
      </p:sp>
      <p:sp>
        <p:nvSpPr>
          <p:cNvPr id="13" name="anim3"/>
          <p:cNvSpPr/>
          <p:nvPr/>
        </p:nvSpPr>
        <p:spPr>
          <a:xfrm>
            <a:off x="548640" y="35204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41824"/>
          </a:solidFill>
          <a:ln w="15240">
            <a:solidFill>
              <a:srgbClr val="35C76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6667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persistent &amp; sudden residuals · correlated multi-sensor anomalies</a:t>
            </a:r>
            <a:endParaRPr lang="en-US" sz="1150" dirty="0"/>
          </a:p>
        </p:txBody>
      </p:sp>
      <p:sp>
        <p:nvSpPr>
          <p:cNvPr id="16" name="anim4"/>
          <p:cNvSpPr/>
          <p:nvPr/>
        </p:nvSpPr>
        <p:spPr>
          <a:xfrm>
            <a:off x="6172200" y="35204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41824"/>
          </a:solidFill>
          <a:ln w="15240">
            <a:solidFill>
              <a:srgbClr val="F5A623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36667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WATERMARK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0507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missing or abnormal response to the injected excitation</a:t>
            </a:r>
            <a:endParaRPr lang="en-US" sz="1150" dirty="0"/>
          </a:p>
        </p:txBody>
      </p:sp>
      <p:sp>
        <p:nvSpPr>
          <p:cNvPr id="19" name="anim5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A1410"/>
          </a:solidFill>
          <a:ln w="12700">
            <a:solidFill>
              <a:srgbClr val="F059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Correlation engine:  </a:t>
            </a:r>
            <a:r>
              <a:rPr lang="en-US" sz="130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deduplicates findings into one incident, fuses confidence  C = 1 − Π(1 − c</a:t>
            </a:r>
            <a:r>
              <a:rPr lang="en-US" sz="1300" baseline="-4000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r>
              <a:rPr lang="en-US" sz="130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),  raises severity per corroborating layer, and classifies.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SYSTEM · ADD-ON 03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PHYSICAL WATERMARKING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Probe the process, then listen for the echo.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3774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974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INJECT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bounded PRBS excitation is added to the pump command inside the PLC's secured block. The exported register still reports the base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1648" y="3630168"/>
            <a:ext cx="237744" cy="0"/>
          </a:xfrm>
          <a:prstGeom prst="line">
            <a:avLst/>
          </a:prstGeom>
          <a:noFill/>
          <a:ln w="25400">
            <a:solidFill>
              <a:srgbClr val="59627A"/>
            </a:solidFill>
            <a:prstDash val="solid"/>
            <a:tailEnd type="triangle"/>
          </a:ln>
        </p:spPr>
      </p:sp>
      <p:sp>
        <p:nvSpPr>
          <p:cNvPr id="12" name="anim2"/>
          <p:cNvSpPr/>
          <p:nvPr/>
        </p:nvSpPr>
        <p:spPr>
          <a:xfrm>
            <a:off x="4297680" y="23774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560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4B2C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6974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3756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shadow copies of the twin's hydraulics compute the expected response to the excitation.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90688" y="3630168"/>
            <a:ext cx="237744" cy="0"/>
          </a:xfrm>
          <a:prstGeom prst="line">
            <a:avLst/>
          </a:prstGeom>
          <a:noFill/>
          <a:ln w="25400">
            <a:solidFill>
              <a:srgbClr val="59627A"/>
            </a:solidFill>
            <a:prstDash val="solid"/>
            <a:tailEnd type="triangle"/>
          </a:ln>
        </p:spPr>
      </p:sp>
      <p:sp>
        <p:nvSpPr>
          <p:cNvPr id="17" name="anim3"/>
          <p:cNvSpPr/>
          <p:nvPr/>
        </p:nvSpPr>
        <p:spPr>
          <a:xfrm>
            <a:off x="8046720" y="237744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21040" y="2560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C7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6974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33756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Observed flow &amp; pressure are matched to the expected response by correlation ρ, gain and SNR.</a:t>
            </a:r>
            <a:endParaRPr lang="en-US" sz="1200" dirty="0"/>
          </a:p>
        </p:txBody>
      </p:sp>
      <p:sp>
        <p:nvSpPr>
          <p:cNvPr id="21" name="anim4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Decision:  </a:t>
            </a:r>
            <a:r>
              <a:rPr lang="en-US" sz="140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consistent</a:t>
            </a:r>
            <a:r>
              <a:rPr lang="en-US" sz="1400" dirty="0">
                <a:solidFill>
                  <a:srgbClr val="596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/  </a:t>
            </a:r>
            <a:r>
              <a:rPr lang="en-US" sz="1400" b="1" dirty="0">
                <a:solidFill>
                  <a:srgbClr val="FF5A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suspicious</a:t>
            </a:r>
            <a:r>
              <a:rPr lang="en-US" sz="1400" dirty="0">
                <a:solidFill>
                  <a:srgbClr val="596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/  </a:t>
            </a:r>
            <a:r>
              <a:rPr lang="en-US" sz="1400" b="1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inconclusive</a:t>
            </a: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  Self-suspends on a safety trip, saturation or poor measurement quality — never forces an unsafe perturbation.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C22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566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Ten attacks, one honest question: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layers actually catch them?</a:t>
            </a:r>
            <a:endParaRPr lang="en-US" sz="2800" dirty="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ATTACK LABORATORY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Ten reproducible scenarios.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28600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41448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2860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 sensor-data injection</a:t>
            </a:r>
            <a:endParaRPr lang="en-US" sz="1250" dirty="0"/>
          </a:p>
        </p:txBody>
      </p:sp>
      <p:sp>
        <p:nvSpPr>
          <p:cNvPr id="11" name="anim1"/>
          <p:cNvSpPr/>
          <p:nvPr/>
        </p:nvSpPr>
        <p:spPr>
          <a:xfrm>
            <a:off x="6172200" y="228600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441448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13" name="Text 11"/>
          <p:cNvSpPr txBox="1"/>
          <p:nvPr/>
        </p:nvSpPr>
        <p:spPr>
          <a:xfrm>
            <a:off x="6373368" y="24414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22860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Frozen sensor readings</a:t>
            </a:r>
            <a:endParaRPr lang="en-US" sz="1250" dirty="0"/>
          </a:p>
        </p:txBody>
      </p:sp>
      <p:sp>
        <p:nvSpPr>
          <p:cNvPr id="15" name="anim2"/>
          <p:cNvSpPr/>
          <p:nvPr/>
        </p:nvSpPr>
        <p:spPr>
          <a:xfrm>
            <a:off x="548640" y="2944368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099816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17" name="Text 15"/>
          <p:cNvSpPr txBox="1"/>
          <p:nvPr/>
        </p:nvSpPr>
        <p:spPr>
          <a:xfrm>
            <a:off x="749808" y="30998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2944368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Actuator-response manipulation</a:t>
            </a:r>
            <a:endParaRPr lang="en-US" sz="1250" dirty="0"/>
          </a:p>
        </p:txBody>
      </p:sp>
      <p:sp>
        <p:nvSpPr>
          <p:cNvPr id="19" name="anim2"/>
          <p:cNvSpPr/>
          <p:nvPr/>
        </p:nvSpPr>
        <p:spPr>
          <a:xfrm>
            <a:off x="6172200" y="2944368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099816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21" name="Text 19"/>
          <p:cNvSpPr txBox="1"/>
          <p:nvPr/>
        </p:nvSpPr>
        <p:spPr>
          <a:xfrm>
            <a:off x="6373368" y="30998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39128" y="2944368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Unauthorised setpoint write</a:t>
            </a:r>
            <a:endParaRPr lang="en-US" sz="1250" dirty="0"/>
          </a:p>
        </p:txBody>
      </p:sp>
      <p:sp>
        <p:nvSpPr>
          <p:cNvPr id="23" name="anim3"/>
          <p:cNvSpPr/>
          <p:nvPr/>
        </p:nvSpPr>
        <p:spPr>
          <a:xfrm>
            <a:off x="548640" y="3602736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758184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25" name="Text 23"/>
          <p:cNvSpPr txBox="1"/>
          <p:nvPr/>
        </p:nvSpPr>
        <p:spPr>
          <a:xfrm>
            <a:off x="749808" y="3758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3602736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Command replay</a:t>
            </a:r>
            <a:endParaRPr lang="en-US" sz="1250" dirty="0"/>
          </a:p>
        </p:txBody>
      </p:sp>
      <p:sp>
        <p:nvSpPr>
          <p:cNvPr id="27" name="anim3"/>
          <p:cNvSpPr/>
          <p:nvPr/>
        </p:nvSpPr>
        <p:spPr>
          <a:xfrm>
            <a:off x="6172200" y="3602736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3758184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29" name="Text 27"/>
          <p:cNvSpPr txBox="1"/>
          <p:nvPr/>
        </p:nvSpPr>
        <p:spPr>
          <a:xfrm>
            <a:off x="6373368" y="3758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602736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Supervisory-link DoS</a:t>
            </a:r>
            <a:endParaRPr lang="en-US" sz="1250" dirty="0"/>
          </a:p>
        </p:txBody>
      </p:sp>
      <p:sp>
        <p:nvSpPr>
          <p:cNvPr id="31" name="anim4"/>
          <p:cNvSpPr/>
          <p:nvPr/>
        </p:nvSpPr>
        <p:spPr>
          <a:xfrm>
            <a:off x="548640" y="4261104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416552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33" name="Text 31"/>
          <p:cNvSpPr txBox="1"/>
          <p:nvPr/>
        </p:nvSpPr>
        <p:spPr>
          <a:xfrm>
            <a:off x="749808" y="44165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4261104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Insider / out-of-policy write</a:t>
            </a:r>
            <a:endParaRPr lang="en-US" sz="1250" dirty="0"/>
          </a:p>
        </p:txBody>
      </p:sp>
      <p:sp>
        <p:nvSpPr>
          <p:cNvPr id="35" name="anim4"/>
          <p:cNvSpPr/>
          <p:nvPr/>
        </p:nvSpPr>
        <p:spPr>
          <a:xfrm>
            <a:off x="6172200" y="4261104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368" y="4416552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37" name="Text 35"/>
          <p:cNvSpPr txBox="1"/>
          <p:nvPr/>
        </p:nvSpPr>
        <p:spPr>
          <a:xfrm>
            <a:off x="6373368" y="44165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4261104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Digital-twin model tamper</a:t>
            </a:r>
            <a:endParaRPr lang="en-US" sz="1250" dirty="0"/>
          </a:p>
        </p:txBody>
      </p:sp>
      <p:sp>
        <p:nvSpPr>
          <p:cNvPr id="39" name="anim5"/>
          <p:cNvSpPr/>
          <p:nvPr/>
        </p:nvSpPr>
        <p:spPr>
          <a:xfrm>
            <a:off x="548640" y="4919472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5074920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41" name="Text 39"/>
          <p:cNvSpPr txBox="1"/>
          <p:nvPr/>
        </p:nvSpPr>
        <p:spPr>
          <a:xfrm>
            <a:off x="749808" y="50749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1947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Watermark interference</a:t>
            </a:r>
            <a:endParaRPr lang="en-US" sz="1250" dirty="0"/>
          </a:p>
        </p:txBody>
      </p:sp>
      <p:sp>
        <p:nvSpPr>
          <p:cNvPr id="43" name="anim5"/>
          <p:cNvSpPr/>
          <p:nvPr/>
        </p:nvSpPr>
        <p:spPr>
          <a:xfrm>
            <a:off x="6172200" y="4919472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 w="9525">
            <a:solidFill>
              <a:srgbClr val="242B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3368" y="5074920"/>
            <a:ext cx="237744" cy="237744"/>
          </a:xfrm>
          <a:prstGeom prst="ellipse">
            <a:avLst/>
          </a:prstGeom>
          <a:solidFill>
            <a:srgbClr val="F0592A"/>
          </a:solidFill>
        </p:spPr>
      </p:sp>
      <p:sp>
        <p:nvSpPr>
          <p:cNvPr id="45" name="Text 43"/>
          <p:cNvSpPr txBox="1"/>
          <p:nvPr/>
        </p:nvSpPr>
        <p:spPr>
          <a:xfrm>
            <a:off x="6373368" y="50749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C1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739128" y="491947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Coordinated process + network</a:t>
            </a:r>
            <a:endParaRPr lang="en-US" sz="1250" dirty="0"/>
          </a:p>
        </p:txBody>
      </p:sp>
      <p:sp>
        <p:nvSpPr>
          <p:cNvPr id="47" name="anim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records its seed, makes real changes, exposes a ground-truth label, and supports stop/recover. Detection must come from evidence — starting a scenario raises no alert by itself.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7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 · LIVE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— FALSE DATA INJECTION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twin tells the truth the sensor hides.</a:t>
            </a:r>
            <a:endParaRPr lang="en-US" sz="2400" dirty="0"/>
          </a:p>
        </p:txBody>
      </p:sp>
      <p:sp>
        <p:nvSpPr>
          <p:cNvPr id="7" name="deco"/>
          <p:cNvSpPr/>
          <p:nvPr/>
        </p:nvSpPr>
        <p:spPr>
          <a:xfrm>
            <a:off x="493776" y="2231136"/>
            <a:ext cx="7333488" cy="4218242"/>
          </a:xfrm>
          <a:prstGeom prst="roundRect">
            <a:avLst>
              <a:gd name="adj" fmla="val 1301"/>
            </a:avLst>
          </a:prstGeom>
          <a:solidFill>
            <a:srgbClr val="171B26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8" name="anim2" descr="assets/twin_divergenc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7223760" cy="41085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50424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Observed (blue) is pulled to the fake value; the twin prediction (orange) keeps tracking reality.</a:t>
            </a:r>
            <a:endParaRPr lang="en-US" sz="900" dirty="0"/>
          </a:p>
        </p:txBody>
      </p:sp>
      <p:sp>
        <p:nvSpPr>
          <p:cNvPr id="10" name="anim3"/>
          <p:cNvSpPr txBox="1"/>
          <p:nvPr/>
        </p:nvSpPr>
        <p:spPr>
          <a:xfrm>
            <a:off x="8138160" y="23317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C7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459.8 °C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156448" y="2788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hot-leg temperature</a:t>
            </a:r>
            <a:endParaRPr lang="en-US" sz="1100" dirty="0"/>
          </a:p>
        </p:txBody>
      </p:sp>
      <p:sp>
        <p:nvSpPr>
          <p:cNvPr id="12" name="anim4"/>
          <p:cNvSpPr txBox="1"/>
          <p:nvPr/>
        </p:nvSpPr>
        <p:spPr>
          <a:xfrm>
            <a:off x="8138160" y="32461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442.3 °C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703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shown to the operator</a:t>
            </a:r>
            <a:endParaRPr lang="en-US" sz="1100" dirty="0"/>
          </a:p>
        </p:txBody>
      </p:sp>
      <p:sp>
        <p:nvSpPr>
          <p:cNvPr id="14" name="anim5"/>
          <p:cNvSpPr txBox="1"/>
          <p:nvPr/>
        </p:nvSpPr>
        <p:spPr>
          <a:xfrm>
            <a:off x="8138160" y="41605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9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 = −24.9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156448" y="46177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twin residual, CUSUM saturated</a:t>
            </a:r>
            <a:endParaRPr lang="en-US" sz="1100" dirty="0"/>
          </a:p>
        </p:txBody>
      </p:sp>
      <p:sp>
        <p:nvSpPr>
          <p:cNvPr id="16" name="anim6"/>
          <p:cNvSpPr txBox="1"/>
          <p:nvPr/>
        </p:nvSpPr>
        <p:spPr>
          <a:xfrm>
            <a:off x="8138160" y="50749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8B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96 %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5532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incident confidence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 · LIVE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CORRELATED, THEN CONTAINED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layers fire. One incident. An automatic response.</a:t>
            </a:r>
            <a:endParaRPr lang="en-US" sz="2300" dirty="0"/>
          </a:p>
        </p:txBody>
      </p:sp>
      <p:sp>
        <p:nvSpPr>
          <p:cNvPr id="7" name="deco"/>
          <p:cNvSpPr/>
          <p:nvPr/>
        </p:nvSpPr>
        <p:spPr>
          <a:xfrm>
            <a:off x="4517136" y="2139696"/>
            <a:ext cx="7150608" cy="4114228"/>
          </a:xfrm>
          <a:prstGeom prst="roundRect">
            <a:avLst>
              <a:gd name="adj" fmla="val 1334"/>
            </a:avLst>
          </a:prstGeom>
          <a:solidFill>
            <a:srgbClr val="171B26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8" name="anim2" descr="assets/security_cent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194560"/>
            <a:ext cx="7040880" cy="40045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0" y="6308789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feed, the correlated critical incident, and the executed responses.</a:t>
            </a:r>
            <a:endParaRPr lang="en-US" sz="900" dirty="0"/>
          </a:p>
        </p:txBody>
      </p:sp>
      <p:sp>
        <p:nvSpPr>
          <p:cNvPr id="10" name="anim2"/>
          <p:cNvSpPr/>
          <p:nvPr/>
        </p:nvSpPr>
        <p:spPr>
          <a:xfrm>
            <a:off x="548640" y="23317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41824"/>
          </a:solidFill>
          <a:ln w="12700">
            <a:solidFill>
              <a:srgbClr val="54B2C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45973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 + TWIN fire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8072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energy-balance + sudden-residual evidence — the network stays silent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77440" y="3337560"/>
            <a:ext cx="0" cy="182880"/>
          </a:xfrm>
          <a:prstGeom prst="line">
            <a:avLst/>
          </a:prstGeom>
          <a:noFill/>
          <a:ln w="20320">
            <a:solidFill>
              <a:srgbClr val="59627A"/>
            </a:solidFill>
            <a:prstDash val="solid"/>
            <a:tailEnd type="triangle"/>
          </a:ln>
        </p:spPr>
      </p:sp>
      <p:sp>
        <p:nvSpPr>
          <p:cNvPr id="14" name="anim3"/>
          <p:cNvSpPr/>
          <p:nvPr/>
        </p:nvSpPr>
        <p:spPr>
          <a:xfrm>
            <a:off x="548640" y="352044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41824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6484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8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Correlated incident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9959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“False data injection” · critical · 96% confidence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77440" y="4526280"/>
            <a:ext cx="0" cy="182880"/>
          </a:xfrm>
          <a:prstGeom prst="line">
            <a:avLst/>
          </a:prstGeom>
          <a:noFill/>
          <a:ln w="20320">
            <a:solidFill>
              <a:srgbClr val="59627A"/>
            </a:solidFill>
            <a:prstDash val="solid"/>
            <a:tailEnd type="triangle"/>
          </a:ln>
        </p:spPr>
      </p:sp>
      <p:sp>
        <p:nvSpPr>
          <p:cNvPr id="18" name="anim4"/>
          <p:cNvSpPr/>
          <p:nvPr/>
        </p:nvSpPr>
        <p:spPr>
          <a:xfrm>
            <a:off x="548640" y="4709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41824"/>
          </a:solidFill>
          <a:ln w="12700">
            <a:solidFill>
              <a:srgbClr val="35C7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83717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response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51846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 suspicious · secure-channel failover · preserve evidence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Detection F1 by configuration.</a:t>
            </a:r>
            <a:endParaRPr lang="en-US" sz="2400" dirty="0"/>
          </a:p>
        </p:txBody>
      </p:sp>
      <p:graphicFrame>
        <p:nvGraphicFramePr>
          <p:cNvPr id="17" name="anim1"/>
          <p:cNvGraphicFramePr>
            <a:graphicFrameLocks noGrp="1"/>
          </p:cNvGraphicFramePr>
          <p:nvPr/>
        </p:nvGraphicFramePr>
        <p:xfrm>
          <a:off x="548640" y="2331720"/>
          <a:ext cx="11064240" cy="3328416"/>
        </p:xfrm>
        <a:graphic>
          <a:graphicData uri="http://schemas.openxmlformats.org/drawingml/2006/table">
            <a:tbl>
              <a:tblPr/>
              <a:tblGrid>
                <a:gridCol w="3383280"/>
                <a:gridCol w="1554480"/>
                <a:gridCol w="1554480"/>
                <a:gridCol w="1371600"/>
                <a:gridCol w="1554480"/>
                <a:gridCol w="164592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Scenario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Net only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Net+Proc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+Twin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Full+WM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Latency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A. Normal operation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B. False data injection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5A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miss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0.94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0.94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0.94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0.2 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C. Watermark interference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5A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miss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5A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miss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0.96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1.1 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D. Unauthorised setpoint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0.0 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E. Command replay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0.93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0.93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0.93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0.93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 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6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F. Coordinated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5C76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0.91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3B4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 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0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</a:tbl>
          </a:graphicData>
        </a:graphic>
      </p:graphicFrame>
      <p:sp>
        <p:nvSpPr>
          <p:cNvPr id="8" name="anim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Network-only is blind to B and C</a:t>
            </a:r>
            <a:r>
              <a:rPr lang="en-US" sz="13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— field-bus lies leave no network evidence. Process + twin recover B in 0.2 s; the watermark lifts C from 0.71 to 0.96.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EVIDENCE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FINDING</a:t>
            </a:r>
            <a:endParaRPr lang="en-US" sz="1150" dirty="0"/>
          </a:p>
        </p:txBody>
      </p:sp>
      <p:sp>
        <p:nvSpPr>
          <p:cNvPr id="6" name="anim1"/>
          <p:cNvSpPr txBox="1"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Zero, or ninety-four.</a:t>
            </a:r>
            <a:endParaRPr lang="en-US" sz="3000" dirty="0"/>
          </a:p>
        </p:txBody>
      </p:sp>
      <p:sp>
        <p:nvSpPr>
          <p:cNvPr id="7" name="anim2"/>
          <p:cNvSpPr txBox="1"/>
          <p:nvPr/>
        </p:nvSpPr>
        <p:spPr>
          <a:xfrm>
            <a:off x="548640" y="21488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telemetry-falsification attacks, a packet-only IDS scores nothing. The extra layers do all the work.</a:t>
            </a:r>
            <a:endParaRPr lang="en-US" sz="1400" dirty="0"/>
          </a:p>
        </p:txBody>
      </p:sp>
      <p:graphicFrame>
        <p:nvGraphicFramePr>
          <p:cNvPr id="8" name="anim3"/>
          <p:cNvGraphicFramePr/>
          <p:nvPr/>
        </p:nvGraphicFramePr>
        <p:xfrm>
          <a:off x="457200" y="310896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anim4"/>
          <p:cNvSpPr/>
          <p:nvPr/>
        </p:nvSpPr>
        <p:spPr>
          <a:xfrm>
            <a:off x="6858000" y="210312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32320" y="23317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WHOLE ARGUMENT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7889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4B2C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Command-path attacks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13639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caught by the network layer.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8404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C7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Telemetry falsification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418795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invisible there — caught by process + twin.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48920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Erased signatures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523951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caught by the active watermark.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SCADA</a:t>
            </a: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  DIGITAL-TWIN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38404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 / 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596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CREDITS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059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BUILT WHAT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Author contributions.</a:t>
            </a:r>
            <a:endParaRPr lang="en-US" sz="2400" dirty="0"/>
          </a:p>
        </p:txBody>
      </p:sp>
      <p:sp>
        <p:nvSpPr>
          <p:cNvPr id="7" name="anim1"/>
          <p:cNvSpPr/>
          <p:nvPr/>
        </p:nvSpPr>
        <p:spPr>
          <a:xfrm>
            <a:off x="548640" y="23774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51760"/>
            <a:ext cx="201168" cy="201168"/>
          </a:xfrm>
          <a:prstGeom prst="ellipse">
            <a:avLst/>
          </a:prstGeom>
          <a:solidFill>
            <a:srgbClr val="35C76A"/>
          </a:solidFill>
        </p:spPr>
      </p:sp>
      <p:sp>
        <p:nvSpPr>
          <p:cNvPr id="9" name="Text 7"/>
          <p:cNvSpPr txBox="1"/>
          <p:nvPr/>
        </p:nvSpPr>
        <p:spPr>
          <a:xfrm>
            <a:off x="1143000" y="2578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S. Saurabh Krishnan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9232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twin — model, gated correction, residual/CUSUM analysis — and the experiment &amp; evaluation framework and 56-test suite.</a:t>
            </a:r>
            <a:endParaRPr lang="en-US" sz="1150" dirty="0"/>
          </a:p>
        </p:txBody>
      </p:sp>
      <p:sp>
        <p:nvSpPr>
          <p:cNvPr id="11" name="anim2"/>
          <p:cNvSpPr/>
          <p:nvPr/>
        </p:nvSpPr>
        <p:spPr>
          <a:xfrm>
            <a:off x="6172200" y="23774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651760"/>
            <a:ext cx="201168" cy="201168"/>
          </a:xfrm>
          <a:prstGeom prst="ellipse">
            <a:avLst/>
          </a:prstGeom>
          <a:solidFill>
            <a:srgbClr val="54B2C9"/>
          </a:solidFill>
        </p:spPr>
      </p:sp>
      <p:sp>
        <p:nvSpPr>
          <p:cNvPr id="13" name="Text 11"/>
          <p:cNvSpPr txBox="1"/>
          <p:nvPr/>
        </p:nvSpPr>
        <p:spPr>
          <a:xfrm>
            <a:off x="6766560" y="2578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Hemant Bhupesh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99232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Plant &amp; network simulation — boiler and subsystems, device abstractions, PLC/RTU control, the safety system and the protocol layer.</a:t>
            </a:r>
            <a:endParaRPr lang="en-US" sz="1150" dirty="0"/>
          </a:p>
        </p:txBody>
      </p:sp>
      <p:sp>
        <p:nvSpPr>
          <p:cNvPr id="15" name="anim3"/>
          <p:cNvSpPr/>
          <p:nvPr/>
        </p:nvSpPr>
        <p:spPr>
          <a:xfrm>
            <a:off x="548640" y="4114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201168" cy="201168"/>
          </a:xfrm>
          <a:prstGeom prst="ellipse">
            <a:avLst/>
          </a:prstGeom>
          <a:solidFill>
            <a:srgbClr val="A98BFF"/>
          </a:solidFill>
        </p:spPr>
      </p:sp>
      <p:sp>
        <p:nvSpPr>
          <p:cNvPr id="17" name="Text 15"/>
          <p:cNvSpPr txBox="1"/>
          <p:nvPr/>
        </p:nvSpPr>
        <p:spPr>
          <a:xfrm>
            <a:off x="1143000" y="4315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Sanjai 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36592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Multi-layer IDS and correlation, the ten attack scenarios, and the automated defensive-response engine.</a:t>
            </a:r>
            <a:endParaRPr lang="en-US" sz="1150" dirty="0"/>
          </a:p>
        </p:txBody>
      </p:sp>
      <p:sp>
        <p:nvSpPr>
          <p:cNvPr id="19" name="anim4"/>
          <p:cNvSpPr/>
          <p:nvPr/>
        </p:nvSpPr>
        <p:spPr>
          <a:xfrm>
            <a:off x="6172200" y="4114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41824"/>
          </a:solidFill>
          <a:ln w="12700">
            <a:solidFill>
              <a:srgbClr val="242B3A"/>
            </a:solidFill>
            <a:prstDash val="solid"/>
          </a:ln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89120"/>
            <a:ext cx="201168" cy="201168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1" name="Text 19"/>
          <p:cNvSpPr txBox="1"/>
          <p:nvPr/>
        </p:nvSpPr>
        <p:spPr>
          <a:xfrm>
            <a:off x="6766560" y="4315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Nitesh V. M.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36592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Physical watermarking, the React operator HMI, the FastAPI/WebSocket backend and persistence, and documentation.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059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DEFENCE IN THE PHYSICS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219456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network-only defender is blind.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twin, the physics and a watermark can see.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multi-layer stack: sensor falsification detected in 0.2 s (F1 0.94) where network-only scores 0.00. Live at 10 Hz, reproducible, 56 tests.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6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S. Saurabh Krishnan · Hemant Bhupesh · Sanjai S · Nitesh V. M.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96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Amrita Vishwa Vidyapeetham, Coimbatore · educational research simulation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Refs: Stuxnet (Symantec, 2011) · Mo &amp; Sinopoli (Allerton 2009) · Mo et al. (IEEE CSM 2015) · Cárdenas et al. (ASIACCS 2011) · Urbina et al. (CCS 2016) · Goh et al. (CRITIS 2016) · Lee et al. (E-ISAC/SANS 2016).</a:t>
            </a:r>
            <a:endParaRPr lang="en-US" sz="7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8331</Words>
  <Application>WPS Presentation</Application>
  <PresentationFormat>On-screen Show (16:9)</PresentationFormat>
  <Paragraphs>585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Consolas</vt:lpstr>
      <vt:lpstr>Consolas</vt:lpstr>
      <vt:lpstr>Consolas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 Digital-Twin Security</dc:title>
  <dc:creator>S. Saurabh Krishnan; Hemant Bhupesh; Sanjai S; Nitesh V. M.</dc:creator>
  <dc:subject>PptxGenJS Presentation</dc:subject>
  <cp:lastModifiedBy>Saurabh Krishnan</cp:lastModifiedBy>
  <cp:revision>2</cp:revision>
  <dcterms:created xsi:type="dcterms:W3CDTF">2026-10-21T11:28:00Z</dcterms:created>
  <dcterms:modified xsi:type="dcterms:W3CDTF">2026-10-21T14:29:02Z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963A0928A80A40A0AC19AC642CF300D5_12</vt:lpwstr>
  </property>
  <property fmtid="{D5CDD505-2E9C-101B-9397-08002B2CF9AE}" pid="3" name="KSOProductBuildVer">
    <vt:lpwstr>1033-12.1.0.29162</vt:lpwstr>
  </property>
</Properties>
</file>